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80" r:id="rId2"/>
    <p:sldId id="366" r:id="rId3"/>
    <p:sldId id="380" r:id="rId4"/>
    <p:sldId id="383" r:id="rId5"/>
    <p:sldId id="385" r:id="rId6"/>
    <p:sldId id="386" r:id="rId7"/>
    <p:sldId id="387" r:id="rId8"/>
    <p:sldId id="388" r:id="rId9"/>
    <p:sldId id="400" r:id="rId10"/>
    <p:sldId id="401" r:id="rId11"/>
    <p:sldId id="402" r:id="rId12"/>
    <p:sldId id="390" r:id="rId13"/>
    <p:sldId id="391" r:id="rId14"/>
    <p:sldId id="392" r:id="rId15"/>
    <p:sldId id="403" r:id="rId16"/>
    <p:sldId id="393" r:id="rId17"/>
    <p:sldId id="394" r:id="rId18"/>
    <p:sldId id="398" r:id="rId19"/>
    <p:sldId id="395" r:id="rId20"/>
    <p:sldId id="397" r:id="rId21"/>
    <p:sldId id="399" r:id="rId22"/>
    <p:sldId id="28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34" autoAdjust="0"/>
    <p:restoredTop sz="94364" autoAdjust="0"/>
  </p:normalViewPr>
  <p:slideViewPr>
    <p:cSldViewPr>
      <p:cViewPr varScale="1">
        <p:scale>
          <a:sx n="90" d="100"/>
          <a:sy n="90" d="100"/>
        </p:scale>
        <p:origin x="1536"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8B07-D393-5605-AE84-FF08D1857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7F24E-295F-938A-A20C-335A4C60D7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0314C-7F75-097E-790C-6B630BC365C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30A0C66-A83D-76E5-DC3C-840CB6F3FC03}"/>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859603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4322209" cy="1323439"/>
            </a:xfrm>
            <a:prstGeom prst="rect">
              <a:avLst/>
            </a:prstGeom>
            <a:noFill/>
          </p:spPr>
          <p:txBody>
            <a:bodyPr wrap="square" rtlCol="0">
              <a:spAutoFit/>
            </a:bodyPr>
            <a:lstStyle/>
            <a:p>
              <a:r>
                <a:rPr lang="en-US" sz="2000" b="1" dirty="0"/>
                <a:t>Register No: 220701197</a:t>
              </a:r>
            </a:p>
            <a:p>
              <a:r>
                <a:rPr lang="en-US" sz="2000" b="1" dirty="0"/>
                <a:t>Name: PRANNOV SHABARI N </a:t>
              </a:r>
            </a:p>
            <a:p>
              <a:r>
                <a:rPr lang="en-US" sz="2000" b="1" dirty="0"/>
                <a:t>Guide Name:</a:t>
              </a:r>
            </a:p>
            <a:p>
              <a:r>
                <a:rPr lang="en-US" sz="2000" b="1" dirty="0"/>
                <a:t>Designation and Department:</a:t>
              </a:r>
            </a:p>
          </p:txBody>
        </p:sp>
        <p:grpSp>
          <p:nvGrpSpPr>
            <p:cNvPr id="43" name="Group 42"/>
            <p:cNvGrpSpPr/>
            <p:nvPr/>
          </p:nvGrpSpPr>
          <p:grpSpPr>
            <a:xfrm>
              <a:off x="-14748" y="986564"/>
              <a:ext cx="9158748" cy="3628908"/>
              <a:chOff x="-14748" y="986564"/>
              <a:chExt cx="9158748" cy="3628908"/>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202174" y="2461036"/>
                <a:ext cx="4188156" cy="2154436"/>
              </a:xfrm>
              <a:prstGeom prst="rect">
                <a:avLst/>
              </a:prstGeom>
              <a:noFill/>
            </p:spPr>
            <p:txBody>
              <a:bodyPr wrap="square" rtlCol="0">
                <a:spAutoFit/>
              </a:bodyPr>
              <a:lstStyle/>
              <a:p>
                <a:r>
                  <a:rPr lang="en-US" sz="4000" b="1" dirty="0">
                    <a:solidFill>
                      <a:schemeClr val="bg1">
                        <a:lumMod val="95000"/>
                      </a:schemeClr>
                    </a:solidFill>
                    <a:effectLst/>
                    <a:latin typeface="Bahnschrift" panose="020B0502040204020203" pitchFamily="34" charset="0"/>
                    <a:ea typeface="Times New Roman" panose="02020603050405020304" pitchFamily="18" charset="0"/>
                  </a:rPr>
                  <a:t>SCRAPING PDF INVOICES </a:t>
                </a:r>
                <a:r>
                  <a:rPr lang="en-US" sz="4000" b="1" spc="-25" dirty="0">
                    <a:solidFill>
                      <a:schemeClr val="bg1">
                        <a:lumMod val="95000"/>
                      </a:schemeClr>
                    </a:solidFill>
                    <a:effectLst/>
                    <a:latin typeface="Bahnschrift" panose="020B0502040204020203" pitchFamily="34" charset="0"/>
                    <a:ea typeface="Times New Roman" panose="02020603050405020304" pitchFamily="18" charset="0"/>
                  </a:rPr>
                  <a:t>BOT</a:t>
                </a:r>
                <a:endParaRPr lang="en-IN" sz="4000" b="1" dirty="0">
                  <a:solidFill>
                    <a:schemeClr val="bg1">
                      <a:lumMod val="95000"/>
                    </a:schemeClr>
                  </a:solidFill>
                  <a:effectLst/>
                  <a:latin typeface="Bahnschrift" panose="020B0502040204020203" pitchFamily="34" charset="0"/>
                  <a:ea typeface="Times New Roman" panose="02020603050405020304" pitchFamily="18" charset="0"/>
                </a:endParaRPr>
              </a:p>
              <a:p>
                <a:endParaRPr lang="en-US" sz="5400" b="1" dirty="0">
                  <a:solidFill>
                    <a:schemeClr val="bg1"/>
                  </a:solidFill>
                  <a:ea typeface="Open Sans Bold" panose="020B0806030504020204" pitchFamily="34" charset="0"/>
                  <a:cs typeface="Open Sans Bold" panose="020B0806030504020204" pitchFamily="34"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pPr marL="151765" marR="150495" algn="just">
              <a:lnSpc>
                <a:spcPct val="150000"/>
              </a:lnSpc>
            </a:pPr>
            <a:r>
              <a:rPr lang="en-IN" sz="1800" dirty="0">
                <a:effectLst/>
                <a:latin typeface="Times New Roman" panose="02020603050405020304" pitchFamily="18" charset="0"/>
                <a:ea typeface="Times New Roman" panose="02020603050405020304" pitchFamily="18" charset="0"/>
              </a:rPr>
              <a:t>This project presents an automation solution utilizing the UiPath Automation Platform to streamline the extraction and organization of invoice data. The robot is designed to efficiently scrape key information, including Company Name, Invoice Number, Date, Customer ID, Payment Terms, and Total Amount, from a dataset of 1000 invoices issued to various customers. The extracted data is systematically stored in an Excel file (</a:t>
            </a:r>
            <a:r>
              <a:rPr lang="en-IN" sz="1800" i="1" dirty="0">
                <a:effectLst/>
                <a:latin typeface="Times New Roman" panose="02020603050405020304" pitchFamily="18" charset="0"/>
                <a:ea typeface="Times New Roman" panose="02020603050405020304" pitchFamily="18" charset="0"/>
              </a:rPr>
              <a:t>invoices_data.xlsx</a:t>
            </a:r>
            <a:r>
              <a:rPr lang="en-IN" sz="1800" dirty="0">
                <a:effectLst/>
                <a:latin typeface="Times New Roman" panose="02020603050405020304" pitchFamily="18" charset="0"/>
                <a:ea typeface="Times New Roman" panose="02020603050405020304" pitchFamily="18" charset="0"/>
              </a:rPr>
              <a:t>), significantly reducing manual effort and the risk of human error.</a:t>
            </a:r>
          </a:p>
          <a:p>
            <a:pPr marL="151765" marR="150495" algn="just">
              <a:lnSpc>
                <a:spcPct val="150000"/>
              </a:lnSpc>
            </a:pPr>
            <a:r>
              <a:rPr lang="en-IN" sz="1800" dirty="0">
                <a:effectLst/>
                <a:latin typeface="Times New Roman" panose="02020603050405020304" pitchFamily="18" charset="0"/>
                <a:ea typeface="Times New Roman" panose="02020603050405020304" pitchFamily="18" charset="0"/>
              </a:rPr>
              <a:t>Additionally, the solution classifies processed invoices into "successfully scraped" and "unsuccessfully scraped" categories, organizing them into separate folders for easy reference and error handling. Remarkably, the RPA robot completes this high-volume data extraction task in approximately 130 minutes with near-perfect accuracy—drastically outperforming the manual process, which would require several days of effort. This project demonstrates the transformative potential of RPA in automating repetitive and labour-intensive processes, enhancing operational efficiency, and ensuring data reliability. </a:t>
            </a:r>
          </a:p>
          <a:p>
            <a:pPr marL="151765" marR="150495" algn="just">
              <a:lnSpc>
                <a:spcPct val="150000"/>
              </a:lnSpc>
            </a:pPr>
            <a:r>
              <a:rPr lang="en-US" sz="1800" dirty="0">
                <a:effectLst/>
                <a:latin typeface="Times New Roman" panose="02020603050405020304" pitchFamily="18" charset="0"/>
                <a:ea typeface="Times New Roman" panose="02020603050405020304" pitchFamily="18" charset="0"/>
              </a:rPr>
              <a:t>This RPA-driven approach highlights the potential of automation to revolutionize business processes, enabling organizations to achieve higher productivity and reliability. The project underscores the value of leveraging intelligent automation tools to simplify complex workflows, optimize resource utilization, and ensure scalability in handling large datasets.</a:t>
            </a:r>
            <a:endParaRPr lang="en-IN" sz="1800" dirty="0">
              <a:effectLst/>
              <a:latin typeface="Times New Roman" panose="02020603050405020304" pitchFamily="18" charset="0"/>
              <a:ea typeface="Times New Roman" panose="02020603050405020304" pitchFamily="18" charset="0"/>
            </a:endParaRPr>
          </a:p>
          <a:p>
            <a:pPr marL="0" indent="0">
              <a:buNone/>
            </a:pP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rPr>
              <a:t>1. High Volume of Data</a:t>
            </a:r>
          </a:p>
          <a:p>
            <a:pPr>
              <a:buFont typeface="Arial" panose="020B0604020202020204" pitchFamily="34" charset="0"/>
              <a:buChar char="•"/>
            </a:pPr>
            <a:r>
              <a:rPr lang="en-US" sz="1500" dirty="0">
                <a:latin typeface="Times New Roman" panose="02020603050405020304" pitchFamily="18" charset="0"/>
              </a:rPr>
              <a:t>Processing 1000 invoices manually is labor-intensive and time-consuming, making it impractical in dynamic business environments.</a:t>
            </a:r>
          </a:p>
          <a:p>
            <a:pPr>
              <a:buFont typeface="Arial" panose="020B0604020202020204" pitchFamily="34" charset="0"/>
              <a:buChar char="•"/>
            </a:pPr>
            <a:r>
              <a:rPr lang="en-US" sz="1500" dirty="0">
                <a:latin typeface="Times New Roman" panose="02020603050405020304" pitchFamily="18" charset="0"/>
              </a:rPr>
              <a:t>Scaling manual efforts for larger datasets becomes unsustainable.</a:t>
            </a:r>
          </a:p>
          <a:p>
            <a:r>
              <a:rPr lang="en-US" sz="1600" b="1" dirty="0">
                <a:latin typeface="Times New Roman" panose="02020603050405020304" pitchFamily="18" charset="0"/>
              </a:rPr>
              <a:t>2. Error-Prone Manual Processes</a:t>
            </a:r>
          </a:p>
          <a:p>
            <a:pPr>
              <a:buFont typeface="Arial" panose="020B0604020202020204" pitchFamily="34" charset="0"/>
              <a:buChar char="•"/>
            </a:pPr>
            <a:r>
              <a:rPr lang="en-US" sz="1500" dirty="0">
                <a:latin typeface="Times New Roman" panose="02020603050405020304" pitchFamily="18" charset="0"/>
              </a:rPr>
              <a:t>Manual data entry is highly susceptible to errors, such as typos, missed fields, or incorrect data interpretation.</a:t>
            </a:r>
          </a:p>
          <a:p>
            <a:pPr>
              <a:buFont typeface="Arial" panose="020B0604020202020204" pitchFamily="34" charset="0"/>
              <a:buChar char="•"/>
            </a:pPr>
            <a:r>
              <a:rPr lang="en-US" sz="1500" dirty="0">
                <a:latin typeface="Times New Roman" panose="02020603050405020304" pitchFamily="18" charset="0"/>
              </a:rPr>
              <a:t>Errors in invoice processing can lead to financial discrepancies, compliance issues, and loss of trust with customers.</a:t>
            </a:r>
          </a:p>
          <a:p>
            <a:r>
              <a:rPr lang="en-US" sz="1600" b="1" dirty="0">
                <a:latin typeface="Times New Roman" panose="02020603050405020304" pitchFamily="18" charset="0"/>
              </a:rPr>
              <a:t>3. Inefficiency in Time and Resource Utilization</a:t>
            </a:r>
          </a:p>
          <a:p>
            <a:pPr>
              <a:buFont typeface="Arial" panose="020B0604020202020204" pitchFamily="34" charset="0"/>
              <a:buChar char="•"/>
            </a:pPr>
            <a:r>
              <a:rPr lang="en-US" sz="1500" dirty="0">
                <a:latin typeface="Times New Roman" panose="02020603050405020304" pitchFamily="18" charset="0"/>
              </a:rPr>
              <a:t>Manual invoice processing requires significant human effort and time, diverting resources from strategic and value-added tasks.</a:t>
            </a:r>
          </a:p>
          <a:p>
            <a:pPr>
              <a:buFont typeface="Arial" panose="020B0604020202020204" pitchFamily="34" charset="0"/>
              <a:buChar char="•"/>
            </a:pPr>
            <a:r>
              <a:rPr lang="en-US" sz="1500" dirty="0">
                <a:latin typeface="Times New Roman" panose="02020603050405020304" pitchFamily="18" charset="0"/>
              </a:rPr>
              <a:t>Delays in processing invoices can affect cash flow and decision-making.</a:t>
            </a:r>
          </a:p>
          <a:p>
            <a:r>
              <a:rPr lang="en-US" sz="1500" b="1" dirty="0">
                <a:latin typeface="Times New Roman" panose="02020603050405020304" pitchFamily="18" charset="0"/>
              </a:rPr>
              <a:t>4. Lack of Scalability in Traditional Processes</a:t>
            </a:r>
          </a:p>
          <a:p>
            <a:pPr>
              <a:buFont typeface="Arial" panose="020B0604020202020204" pitchFamily="34" charset="0"/>
              <a:buChar char="•"/>
            </a:pPr>
            <a:r>
              <a:rPr lang="en-US" sz="1500" dirty="0">
                <a:latin typeface="Times New Roman" panose="02020603050405020304" pitchFamily="18" charset="0"/>
              </a:rPr>
              <a:t>As business operations grow, the volume of invoices and data to process also increases.</a:t>
            </a:r>
          </a:p>
          <a:p>
            <a:pPr>
              <a:buFont typeface="Arial" panose="020B0604020202020204" pitchFamily="34" charset="0"/>
              <a:buChar char="•"/>
            </a:pPr>
            <a:r>
              <a:rPr lang="en-US" sz="1500" dirty="0">
                <a:latin typeface="Times New Roman" panose="02020603050405020304" pitchFamily="18" charset="0"/>
              </a:rPr>
              <a:t>Traditional processes struggle to scale efficiently without significant cost or manpower expansion.</a:t>
            </a:r>
          </a:p>
          <a:p>
            <a:pPr marL="0" indent="0">
              <a:buNone/>
            </a:pPr>
            <a:endParaRPr lang="en-US" sz="1000"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fontScale="25000" lnSpcReduction="20000"/>
          </a:bodyPr>
          <a:lstStyle/>
          <a:p>
            <a:endParaRPr lang="en-US" sz="6400" b="1" dirty="0">
              <a:latin typeface="Times New Roman" panose="02020603050405020304" pitchFamily="18" charset="0"/>
            </a:endParaRPr>
          </a:p>
          <a:p>
            <a:r>
              <a:rPr lang="en-US" sz="6400" b="1" dirty="0">
                <a:latin typeface="Times New Roman" panose="02020603050405020304" pitchFamily="18" charset="0"/>
              </a:rPr>
              <a:t>1. Time Efficiency</a:t>
            </a:r>
          </a:p>
          <a:p>
            <a:pPr>
              <a:buFont typeface="Arial" panose="020B0604020202020204" pitchFamily="34" charset="0"/>
              <a:buChar char="•"/>
            </a:pPr>
            <a:r>
              <a:rPr lang="en-US" sz="6000" dirty="0">
                <a:latin typeface="Times New Roman" panose="02020603050405020304" pitchFamily="18" charset="0"/>
              </a:rPr>
              <a:t>Automates the data extraction process, completing 1000 invoices in 130 minutes compared to several days with manual effort.</a:t>
            </a:r>
          </a:p>
          <a:p>
            <a:pPr>
              <a:buFont typeface="Arial" panose="020B0604020202020204" pitchFamily="34" charset="0"/>
              <a:buChar char="•"/>
            </a:pPr>
            <a:r>
              <a:rPr lang="en-US" sz="6000" dirty="0">
                <a:latin typeface="Times New Roman" panose="02020603050405020304" pitchFamily="18" charset="0"/>
              </a:rPr>
              <a:t>Significantly reduces the time required for repetitive and labor-intensive tasks.</a:t>
            </a:r>
          </a:p>
          <a:p>
            <a:r>
              <a:rPr lang="en-US" sz="6400" b="1" dirty="0">
                <a:latin typeface="Times New Roman" panose="02020603050405020304" pitchFamily="18" charset="0"/>
              </a:rPr>
              <a:t>2. Accuracy and Reliability</a:t>
            </a:r>
          </a:p>
          <a:p>
            <a:pPr>
              <a:buFont typeface="Arial" panose="020B0604020202020204" pitchFamily="34" charset="0"/>
              <a:buChar char="•"/>
            </a:pPr>
            <a:r>
              <a:rPr lang="en-US" sz="6000" dirty="0">
                <a:latin typeface="Times New Roman" panose="02020603050405020304" pitchFamily="18" charset="0"/>
              </a:rPr>
              <a:t>Reduces the risk of human error, ensuring near-perfect accuracy in data extraction and processing.</a:t>
            </a:r>
          </a:p>
          <a:p>
            <a:pPr>
              <a:buFont typeface="Arial" panose="020B0604020202020204" pitchFamily="34" charset="0"/>
              <a:buChar char="•"/>
            </a:pPr>
            <a:r>
              <a:rPr lang="en-US" sz="6000" dirty="0">
                <a:latin typeface="Times New Roman" panose="02020603050405020304" pitchFamily="18" charset="0"/>
              </a:rPr>
              <a:t>Enhances data integrity and reliability.</a:t>
            </a:r>
          </a:p>
          <a:p>
            <a:r>
              <a:rPr lang="en-US" sz="6400" b="1" dirty="0">
                <a:latin typeface="Times New Roman" panose="02020603050405020304" pitchFamily="18" charset="0"/>
              </a:rPr>
              <a:t>3. Cost Savings</a:t>
            </a:r>
          </a:p>
          <a:p>
            <a:pPr>
              <a:buFont typeface="Arial" panose="020B0604020202020204" pitchFamily="34" charset="0"/>
              <a:buChar char="•"/>
            </a:pPr>
            <a:r>
              <a:rPr lang="en-US" sz="6000" dirty="0">
                <a:latin typeface="Times New Roman" panose="02020603050405020304" pitchFamily="18" charset="0"/>
              </a:rPr>
              <a:t>Minimizes costs associated with manual data entry by reducing the need for human intervention.</a:t>
            </a:r>
          </a:p>
          <a:p>
            <a:pPr>
              <a:buFont typeface="Arial" panose="020B0604020202020204" pitchFamily="34" charset="0"/>
              <a:buChar char="•"/>
            </a:pPr>
            <a:r>
              <a:rPr lang="en-US" sz="6000" dirty="0">
                <a:latin typeface="Times New Roman" panose="02020603050405020304" pitchFamily="18" charset="0"/>
              </a:rPr>
              <a:t>Frees up human resources for more strategic tasks.</a:t>
            </a:r>
          </a:p>
          <a:p>
            <a:r>
              <a:rPr lang="en-US" sz="6400" b="1" dirty="0">
                <a:latin typeface="Times New Roman" panose="02020603050405020304" pitchFamily="18" charset="0"/>
              </a:rPr>
              <a:t>4. Scalability</a:t>
            </a:r>
          </a:p>
          <a:p>
            <a:pPr>
              <a:buFont typeface="Arial" panose="020B0604020202020204" pitchFamily="34" charset="0"/>
              <a:buChar char="•"/>
            </a:pPr>
            <a:r>
              <a:rPr lang="en-US" sz="6000" dirty="0">
                <a:latin typeface="Times New Roman" panose="02020603050405020304" pitchFamily="18" charset="0"/>
              </a:rPr>
              <a:t>Capable of handling large datasets efficiently without compromising performance.</a:t>
            </a:r>
          </a:p>
          <a:p>
            <a:pPr>
              <a:buFont typeface="Arial" panose="020B0604020202020204" pitchFamily="34" charset="0"/>
              <a:buChar char="•"/>
            </a:pPr>
            <a:r>
              <a:rPr lang="en-US" sz="6000" dirty="0">
                <a:latin typeface="Times New Roman" panose="02020603050405020304" pitchFamily="18" charset="0"/>
              </a:rPr>
              <a:t>Easily scalable to accommodate larger volumes of invoices or additional processes.</a:t>
            </a:r>
          </a:p>
          <a:p>
            <a:r>
              <a:rPr lang="en-US" sz="6400" b="1" dirty="0">
                <a:latin typeface="Times New Roman" panose="02020603050405020304" pitchFamily="18" charset="0"/>
              </a:rPr>
              <a:t>5. Improved Organization</a:t>
            </a:r>
          </a:p>
          <a:p>
            <a:pPr>
              <a:buFont typeface="Arial" panose="020B0604020202020204" pitchFamily="34" charset="0"/>
              <a:buChar char="•"/>
            </a:pPr>
            <a:r>
              <a:rPr lang="en-US" sz="6000" dirty="0">
                <a:latin typeface="Times New Roman" panose="02020603050405020304" pitchFamily="18" charset="0"/>
              </a:rPr>
              <a:t>Classifies processed invoices into "successfully scraped" and "unsuccessfully scraped" categories, simplifying error handling and reference.</a:t>
            </a:r>
          </a:p>
          <a:p>
            <a:pPr>
              <a:buFont typeface="Arial" panose="020B0604020202020204" pitchFamily="34" charset="0"/>
              <a:buChar char="•"/>
            </a:pPr>
            <a:r>
              <a:rPr lang="en-US" sz="6000" dirty="0">
                <a:latin typeface="Times New Roman" panose="02020603050405020304" pitchFamily="18" charset="0"/>
              </a:rPr>
              <a:t>Streamlines file organization with automated folder management.</a:t>
            </a:r>
          </a:p>
          <a:p>
            <a:pPr marL="0" indent="0">
              <a:buNone/>
            </a:pPr>
            <a:endParaRPr lang="en-US" sz="6000" b="1"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fontScale="77500" lnSpcReduction="20000"/>
          </a:bodyPr>
          <a:lstStyle/>
          <a:p>
            <a:r>
              <a:rPr lang="en-US" sz="2100" dirty="0">
                <a:latin typeface="Times New Roman" panose="02020603050405020304" pitchFamily="18" charset="0"/>
              </a:rPr>
              <a:t>The </a:t>
            </a:r>
            <a:r>
              <a:rPr lang="en-US" sz="2100" b="1" dirty="0">
                <a:latin typeface="Times New Roman" panose="02020603050405020304" pitchFamily="18" charset="0"/>
              </a:rPr>
              <a:t>main objective</a:t>
            </a:r>
            <a:r>
              <a:rPr lang="en-US" sz="2100" dirty="0">
                <a:latin typeface="Times New Roman" panose="02020603050405020304" pitchFamily="18" charset="0"/>
              </a:rPr>
              <a:t> of the project is to develop an automated solution using the </a:t>
            </a:r>
            <a:r>
              <a:rPr lang="en-US" sz="2100" b="1" dirty="0">
                <a:latin typeface="Times New Roman" panose="02020603050405020304" pitchFamily="18" charset="0"/>
              </a:rPr>
              <a:t>UiPath Automation Platform</a:t>
            </a:r>
            <a:r>
              <a:rPr lang="en-US" sz="2100" dirty="0">
                <a:latin typeface="Times New Roman" panose="02020603050405020304" pitchFamily="18" charset="0"/>
              </a:rPr>
              <a:t> to streamline the extraction, organization, and processing of invoice data. This is achieved by efficiently scraping key information (e.g., Company Name, Invoice Number, Date, Customer ID, Payment Terms, and Total Amount) from a large dataset of invoices and systematically storing the data in a structured format (Excel). The solution aims to:</a:t>
            </a:r>
          </a:p>
          <a:p>
            <a:pPr>
              <a:buFont typeface="+mj-lt"/>
              <a:buAutoNum type="arabicPeriod"/>
            </a:pPr>
            <a:r>
              <a:rPr lang="en-US" sz="2100" b="1" dirty="0">
                <a:latin typeface="Times New Roman" panose="02020603050405020304" pitchFamily="18" charset="0"/>
              </a:rPr>
              <a:t>Eliminate Manual Effort</a:t>
            </a:r>
            <a:r>
              <a:rPr lang="en-US" sz="2100" dirty="0">
                <a:latin typeface="Times New Roman" panose="02020603050405020304" pitchFamily="18" charset="0"/>
              </a:rPr>
              <a:t>: Minimize manual intervention in repetitive and time-consuming tasks, thereby reducing labor costs and effort.</a:t>
            </a:r>
          </a:p>
          <a:p>
            <a:pPr>
              <a:buFont typeface="+mj-lt"/>
              <a:buAutoNum type="arabicPeriod"/>
            </a:pPr>
            <a:r>
              <a:rPr lang="en-US" sz="2100" b="1" dirty="0">
                <a:latin typeface="Times New Roman" panose="02020603050405020304" pitchFamily="18" charset="0"/>
              </a:rPr>
              <a:t>Enhance Accuracy</a:t>
            </a:r>
            <a:r>
              <a:rPr lang="en-US" sz="2100" dirty="0">
                <a:latin typeface="Times New Roman" panose="02020603050405020304" pitchFamily="18" charset="0"/>
              </a:rPr>
              <a:t>: Ensure near-perfect accuracy in data extraction to reduce human errors.</a:t>
            </a:r>
          </a:p>
          <a:p>
            <a:pPr>
              <a:buFont typeface="+mj-lt"/>
              <a:buAutoNum type="arabicPeriod"/>
            </a:pPr>
            <a:r>
              <a:rPr lang="en-US" sz="2100" b="1" dirty="0">
                <a:latin typeface="Times New Roman" panose="02020603050405020304" pitchFamily="18" charset="0"/>
              </a:rPr>
              <a:t>Save Time</a:t>
            </a:r>
            <a:r>
              <a:rPr lang="en-US" sz="2100" dirty="0">
                <a:latin typeface="Times New Roman" panose="02020603050405020304" pitchFamily="18" charset="0"/>
              </a:rPr>
              <a:t>: Automate the entire process to significantly reduce the time required to process 1000 invoices.</a:t>
            </a:r>
          </a:p>
          <a:p>
            <a:pPr>
              <a:buFont typeface="+mj-lt"/>
              <a:buAutoNum type="arabicPeriod"/>
            </a:pPr>
            <a:r>
              <a:rPr lang="en-US" sz="2100" b="1" dirty="0">
                <a:latin typeface="Times New Roman" panose="02020603050405020304" pitchFamily="18" charset="0"/>
              </a:rPr>
              <a:t>Improve Organization</a:t>
            </a:r>
            <a:r>
              <a:rPr lang="en-US" sz="2100" dirty="0">
                <a:latin typeface="Times New Roman" panose="02020603050405020304" pitchFamily="18" charset="0"/>
              </a:rPr>
              <a:t>: Categorize invoices into "successfully scraped" and "unsuccessfully scraped" folders for easy reference and error handling.</a:t>
            </a:r>
          </a:p>
          <a:p>
            <a:pPr>
              <a:buFont typeface="+mj-lt"/>
              <a:buAutoNum type="arabicPeriod"/>
            </a:pPr>
            <a:r>
              <a:rPr lang="en-US" sz="2100" b="1" dirty="0">
                <a:latin typeface="Times New Roman" panose="02020603050405020304" pitchFamily="18" charset="0"/>
              </a:rPr>
              <a:t>Enable Scalability</a:t>
            </a:r>
            <a:r>
              <a:rPr lang="en-US" sz="2100" dirty="0">
                <a:latin typeface="Times New Roman" panose="02020603050405020304" pitchFamily="18" charset="0"/>
              </a:rPr>
              <a:t>: Provide a scalable and efficient solution for handling large datasets in dynamic business environments.</a:t>
            </a:r>
          </a:p>
          <a:p>
            <a:pPr>
              <a:buFont typeface="+mj-lt"/>
              <a:buAutoNum type="arabicPeriod"/>
            </a:pPr>
            <a:r>
              <a:rPr lang="en-US" sz="2100" b="1" dirty="0">
                <a:latin typeface="Times New Roman" panose="02020603050405020304" pitchFamily="18" charset="0"/>
              </a:rPr>
              <a:t>Support Digital Transformation</a:t>
            </a:r>
            <a:r>
              <a:rPr lang="en-US" sz="2100" dirty="0">
                <a:latin typeface="Times New Roman" panose="02020603050405020304" pitchFamily="18" charset="0"/>
              </a:rPr>
              <a:t>: Promote the adoption of automation and intelligent tools for optimizing workflows and enhancing operational efficiency.</a:t>
            </a:r>
          </a:p>
          <a:p>
            <a:r>
              <a:rPr lang="en-US" sz="2100" dirty="0">
                <a:latin typeface="Times New Roman" panose="02020603050405020304" pitchFamily="18" charset="0"/>
              </a:rPr>
              <a:t>The overarching goal is to demonstrate the transformative potential of </a:t>
            </a:r>
            <a:r>
              <a:rPr lang="en-US" sz="2100" b="1" dirty="0">
                <a:latin typeface="Times New Roman" panose="02020603050405020304" pitchFamily="18" charset="0"/>
              </a:rPr>
              <a:t>Robotic Process Automation (RPA)</a:t>
            </a:r>
            <a:r>
              <a:rPr lang="en-US" sz="2100" dirty="0">
                <a:latin typeface="Times New Roman" panose="02020603050405020304" pitchFamily="18" charset="0"/>
              </a:rPr>
              <a:t> in automating complex and repetitive business processes, improving productivity, reliability, and resource utilization.</a:t>
            </a:r>
          </a:p>
          <a:p>
            <a:pPr marL="0" indent="0">
              <a:buNone/>
            </a:pPr>
            <a:endParaRPr lang="en-US" sz="2100"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2050" name="Picture 2" descr="UiPath Invoice Automation Architecture">
            <a:extLst>
              <a:ext uri="{FF2B5EF4-FFF2-40B4-BE49-F238E27FC236}">
                <a16:creationId xmlns:a16="http://schemas.microsoft.com/office/drawing/2014/main" id="{83C1886C-DABF-6042-B4D5-11F36C9B54B2}"/>
              </a:ext>
            </a:extLst>
          </p:cNvPr>
          <p:cNvPicPr>
            <a:picLocks noGrp="1" noChangeAspect="1" noChangeArrowheads="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3114209" y="990600"/>
            <a:ext cx="2915582" cy="5334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a:bodyPr>
          <a:lstStyle/>
          <a:p>
            <a:r>
              <a:rPr lang="en-IN" sz="1800" b="1" dirty="0">
                <a:latin typeface="Times New Roman" panose="02020603050405020304" pitchFamily="18" charset="0"/>
              </a:rPr>
              <a:t>Hardware Requirements</a:t>
            </a:r>
          </a:p>
          <a:p>
            <a:pPr>
              <a:buFont typeface="Arial" panose="020B0604020202020204" pitchFamily="34" charset="0"/>
              <a:buChar char="•"/>
            </a:pPr>
            <a:r>
              <a:rPr lang="en-IN" sz="1600" b="1" dirty="0">
                <a:latin typeface="Times New Roman" panose="02020603050405020304" pitchFamily="18" charset="0"/>
              </a:rPr>
              <a:t>Processor</a:t>
            </a:r>
            <a:r>
              <a:rPr lang="en-IN" sz="1600" dirty="0">
                <a:latin typeface="Times New Roman" panose="02020603050405020304" pitchFamily="18" charset="0"/>
              </a:rPr>
              <a:t>: Intel Core i5 or higher (or AMD equivalent)</a:t>
            </a:r>
          </a:p>
          <a:p>
            <a:pPr>
              <a:buFont typeface="Arial" panose="020B0604020202020204" pitchFamily="34" charset="0"/>
              <a:buChar char="•"/>
            </a:pPr>
            <a:r>
              <a:rPr lang="en-IN" sz="1600" b="1" dirty="0">
                <a:latin typeface="Times New Roman" panose="02020603050405020304" pitchFamily="18" charset="0"/>
              </a:rPr>
              <a:t>RAM</a:t>
            </a:r>
            <a:r>
              <a:rPr lang="en-IN" sz="1600" dirty="0">
                <a:latin typeface="Times New Roman" panose="02020603050405020304" pitchFamily="18" charset="0"/>
              </a:rPr>
              <a:t>: 8 GB (minimum); 16 GB recommended</a:t>
            </a:r>
          </a:p>
          <a:p>
            <a:pPr>
              <a:buFont typeface="Arial" panose="020B0604020202020204" pitchFamily="34" charset="0"/>
              <a:buChar char="•"/>
            </a:pPr>
            <a:r>
              <a:rPr lang="en-IN" sz="1600" b="1" dirty="0">
                <a:latin typeface="Times New Roman" panose="02020603050405020304" pitchFamily="18" charset="0"/>
              </a:rPr>
              <a:t>Storage</a:t>
            </a:r>
            <a:r>
              <a:rPr lang="en-IN" sz="1600" dirty="0">
                <a:latin typeface="Times New Roman" panose="02020603050405020304" pitchFamily="18" charset="0"/>
              </a:rPr>
              <a:t>: 256 GB SSD (minimum); 512 GB SSD recommended</a:t>
            </a:r>
          </a:p>
          <a:p>
            <a:pPr>
              <a:buFont typeface="Arial" panose="020B0604020202020204" pitchFamily="34" charset="0"/>
              <a:buChar char="•"/>
            </a:pPr>
            <a:r>
              <a:rPr lang="en-IN" sz="1600" b="1" dirty="0">
                <a:latin typeface="Times New Roman" panose="02020603050405020304" pitchFamily="18" charset="0"/>
              </a:rPr>
              <a:t>Display</a:t>
            </a:r>
            <a:r>
              <a:rPr lang="en-IN" sz="1600" dirty="0">
                <a:latin typeface="Times New Roman" panose="02020603050405020304" pitchFamily="18" charset="0"/>
              </a:rPr>
              <a:t>: 1920x1080 resolution (minimum)</a:t>
            </a:r>
          </a:p>
          <a:p>
            <a:pPr>
              <a:buFont typeface="Arial" panose="020B0604020202020204" pitchFamily="34" charset="0"/>
              <a:buChar char="•"/>
            </a:pPr>
            <a:r>
              <a:rPr lang="en-IN" sz="1600" b="1" dirty="0">
                <a:latin typeface="Times New Roman" panose="02020603050405020304" pitchFamily="18" charset="0"/>
              </a:rPr>
              <a:t>Network</a:t>
            </a:r>
            <a:r>
              <a:rPr lang="en-IN" sz="1600" dirty="0">
                <a:latin typeface="Times New Roman" panose="02020603050405020304" pitchFamily="18" charset="0"/>
              </a:rPr>
              <a:t>: Stable internet connection</a:t>
            </a:r>
          </a:p>
          <a:p>
            <a:pPr>
              <a:buFont typeface="Arial" panose="020B0604020202020204" pitchFamily="34" charset="0"/>
              <a:buChar char="•"/>
            </a:pPr>
            <a:endParaRPr lang="en-IN" sz="1600" dirty="0">
              <a:latin typeface="Times New Roman" panose="02020603050405020304" pitchFamily="18" charset="0"/>
            </a:endParaRPr>
          </a:p>
          <a:p>
            <a:r>
              <a:rPr lang="en-IN" sz="1800" b="1" dirty="0">
                <a:latin typeface="Times New Roman" panose="02020603050405020304" pitchFamily="18" charset="0"/>
              </a:rPr>
              <a:t>Software Requirements</a:t>
            </a:r>
          </a:p>
          <a:p>
            <a:pPr>
              <a:buFont typeface="Arial" panose="020B0604020202020204" pitchFamily="34" charset="0"/>
              <a:buChar char="•"/>
            </a:pPr>
            <a:r>
              <a:rPr lang="en-IN" sz="1600" b="1" dirty="0">
                <a:latin typeface="Times New Roman" panose="02020603050405020304" pitchFamily="18" charset="0"/>
              </a:rPr>
              <a:t>Operating System</a:t>
            </a:r>
            <a:r>
              <a:rPr lang="en-IN" sz="1600" dirty="0">
                <a:latin typeface="Times New Roman" panose="02020603050405020304" pitchFamily="18" charset="0"/>
              </a:rPr>
              <a:t>: Windows 10 or later (64-bit)</a:t>
            </a:r>
          </a:p>
          <a:p>
            <a:pPr>
              <a:buFont typeface="Arial" panose="020B0604020202020204" pitchFamily="34" charset="0"/>
              <a:buChar char="•"/>
            </a:pPr>
            <a:r>
              <a:rPr lang="en-IN" sz="1600" b="1" dirty="0">
                <a:latin typeface="Times New Roman" panose="02020603050405020304" pitchFamily="18" charset="0"/>
              </a:rPr>
              <a:t>Development Tools</a:t>
            </a:r>
            <a:r>
              <a:rPr lang="en-IN" sz="1600" dirty="0">
                <a:latin typeface="Times New Roman" panose="02020603050405020304" pitchFamily="18" charset="0"/>
              </a:rPr>
              <a:t>: UiPath Studio, UiPath Orchestrator (optional)</a:t>
            </a:r>
          </a:p>
          <a:p>
            <a:pPr>
              <a:buFont typeface="Arial" panose="020B0604020202020204" pitchFamily="34" charset="0"/>
              <a:buChar char="•"/>
            </a:pPr>
            <a:r>
              <a:rPr lang="en-IN" sz="1600" b="1" dirty="0">
                <a:latin typeface="Times New Roman" panose="02020603050405020304" pitchFamily="18" charset="0"/>
              </a:rPr>
              <a:t>Supporting Tools</a:t>
            </a:r>
            <a:r>
              <a:rPr lang="en-IN" sz="1600" dirty="0">
                <a:latin typeface="Times New Roman" panose="02020603050405020304" pitchFamily="18" charset="0"/>
              </a:rPr>
              <a:t>:</a:t>
            </a:r>
          </a:p>
          <a:p>
            <a:pPr marL="742950" lvl="1" indent="-285750">
              <a:buFont typeface="Arial" panose="020B0604020202020204" pitchFamily="34" charset="0"/>
              <a:buChar char="•"/>
            </a:pPr>
            <a:r>
              <a:rPr lang="en-IN" sz="1600" dirty="0">
                <a:latin typeface="Times New Roman" panose="02020603050405020304" pitchFamily="18" charset="0"/>
              </a:rPr>
              <a:t>Microsoft Office/Excel</a:t>
            </a:r>
          </a:p>
          <a:p>
            <a:pPr marL="742950" lvl="1" indent="-285750">
              <a:buFont typeface="Arial" panose="020B0604020202020204" pitchFamily="34" charset="0"/>
              <a:buChar char="•"/>
            </a:pPr>
            <a:r>
              <a:rPr lang="en-IN" sz="1600" dirty="0">
                <a:latin typeface="Times New Roman" panose="02020603050405020304" pitchFamily="18" charset="0"/>
              </a:rPr>
              <a:t>PDF Reader (e.g., Adobe Acrobat or UiPath PDF Activities)</a:t>
            </a:r>
          </a:p>
          <a:p>
            <a:pPr marL="742950" lvl="1" indent="-285750">
              <a:buFont typeface="Arial" panose="020B0604020202020204" pitchFamily="34" charset="0"/>
              <a:buChar char="•"/>
            </a:pPr>
            <a:r>
              <a:rPr lang="en-IN" sz="1600" dirty="0">
                <a:latin typeface="Times New Roman" panose="02020603050405020304" pitchFamily="18" charset="0"/>
              </a:rPr>
              <a:t>Web Browser with UiPath extensions (e.g., Chrome, Edge, or Firefox)</a:t>
            </a:r>
          </a:p>
          <a:p>
            <a:pPr marL="0" indent="0">
              <a:buNone/>
            </a:pPr>
            <a:endParaRPr lang="en-US" sz="1600"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5" name="Rectangle 2">
            <a:extLst>
              <a:ext uri="{FF2B5EF4-FFF2-40B4-BE49-F238E27FC236}">
                <a16:creationId xmlns:a16="http://schemas.microsoft.com/office/drawing/2014/main" id="{9E696ACE-A320-8B5B-178B-0CE55F6C9CEC}"/>
              </a:ext>
            </a:extLst>
          </p:cNvPr>
          <p:cNvSpPr>
            <a:spLocks noGrp="1" noChangeArrowheads="1"/>
          </p:cNvSpPr>
          <p:nvPr>
            <p:ph idx="1"/>
          </p:nvPr>
        </p:nvSpPr>
        <p:spPr bwMode="auto">
          <a:xfrm>
            <a:off x="190500" y="1018416"/>
            <a:ext cx="7562007" cy="5278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rPr>
              <a:t>Module 1: Data Extraction and Storage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rPr>
              <a:t>Objective: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rPr>
              <a:t>Automate the extraction of key invoice details and store the data systematically in an Excel file.</a:t>
            </a:r>
            <a:endParaRPr kumimoji="0" lang="en-US" altLang="en-US" sz="1500" b="1"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rPr>
              <a:t>Functionality:</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rPr>
              <a:t>Input Processing:</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Accepts 1000 invoices in various formats (PDF, images, etc.) as input.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Prepares the input files for automated data scraping.</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rPr>
              <a:t>Data Extraction:</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Extracts critical fields from each invoice using UiPath's automation tools: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Company Name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Invoice Number</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Date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Customer ID</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Payment Terms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Total Amount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Utilizes OCR for unstructured invoices or non-digital formats.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rPr>
              <a:t>Data Storage:</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Stores the extracted data in a structured Excel file (invoices_data.xlsx).</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Each record corresponds to an individual invoice for ease of access and analysis.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rPr>
              <a:t>Validation:</a:t>
            </a:r>
            <a:endParaRPr kumimoji="0" lang="en-US" altLang="en-US" sz="1600" b="0" i="0" u="none" strike="noStrike" cap="none" normalizeH="0" baseline="0" dirty="0">
              <a:ln>
                <a:noFill/>
              </a:ln>
              <a:solidFill>
                <a:schemeClr val="tx1"/>
              </a:solidFill>
              <a:effectLst/>
              <a:latin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Performs basic checks to ensure the accuracy and completeness of the extracted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E8380-B4C1-11D6-CFA7-897059B42956}"/>
              </a:ext>
            </a:extLst>
          </p:cNvPr>
          <p:cNvSpPr>
            <a:spLocks noGrp="1"/>
          </p:cNvSpPr>
          <p:nvPr>
            <p:ph type="title"/>
          </p:nvPr>
        </p:nvSpPr>
        <p:spPr/>
        <p:txBody>
          <a:bodyPr/>
          <a:lstStyle/>
          <a:p>
            <a:r>
              <a:rPr lang="en-US" dirty="0"/>
              <a:t>Functional Description</a:t>
            </a:r>
            <a:endParaRPr lang="en-IN" dirty="0"/>
          </a:p>
        </p:txBody>
      </p:sp>
      <p:pic>
        <p:nvPicPr>
          <p:cNvPr id="4102" name="Picture 6" descr="Activity Diagram">
            <a:extLst>
              <a:ext uri="{FF2B5EF4-FFF2-40B4-BE49-F238E27FC236}">
                <a16:creationId xmlns:a16="http://schemas.microsoft.com/office/drawing/2014/main" id="{72734EDC-9D43-868C-57EF-CCE331D82B77}"/>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909330" y="990600"/>
            <a:ext cx="3325340" cy="5334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CE58D2F-9120-4F67-E015-20EA0791125F}"/>
              </a:ext>
            </a:extLst>
          </p:cNvPr>
          <p:cNvSpPr txBox="1"/>
          <p:nvPr/>
        </p:nvSpPr>
        <p:spPr>
          <a:xfrm>
            <a:off x="281927" y="1125641"/>
            <a:ext cx="2484276" cy="369332"/>
          </a:xfrm>
          <a:prstGeom prst="rect">
            <a:avLst/>
          </a:prstGeom>
          <a:noFill/>
        </p:spPr>
        <p:txBody>
          <a:bodyPr wrap="square" rtlCol="0">
            <a:spAutoFit/>
          </a:bodyPr>
          <a:lstStyle/>
          <a:p>
            <a:r>
              <a:rPr lang="en-US" b="1" dirty="0"/>
              <a:t>Activity Diagram</a:t>
            </a:r>
            <a:endParaRPr lang="en-IN" b="1" dirty="0"/>
          </a:p>
        </p:txBody>
      </p:sp>
    </p:spTree>
    <p:extLst>
      <p:ext uri="{BB962C8B-B14F-4D97-AF65-F5344CB8AC3E}">
        <p14:creationId xmlns:p14="http://schemas.microsoft.com/office/powerpoint/2010/main" val="1132931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9C57F-C56B-7FB2-42BD-432083EBC20F}"/>
              </a:ext>
            </a:extLst>
          </p:cNvPr>
          <p:cNvSpPr>
            <a:spLocks noGrp="1"/>
          </p:cNvSpPr>
          <p:nvPr>
            <p:ph type="title"/>
          </p:nvPr>
        </p:nvSpPr>
        <p:spPr/>
        <p:txBody>
          <a:bodyPr/>
          <a:lstStyle/>
          <a:p>
            <a:r>
              <a:rPr lang="en-US" dirty="0"/>
              <a:t>Functional Description</a:t>
            </a:r>
            <a:endParaRPr lang="en-IN" dirty="0"/>
          </a:p>
        </p:txBody>
      </p:sp>
      <p:sp>
        <p:nvSpPr>
          <p:cNvPr id="3" name="Content Placeholder 2">
            <a:extLst>
              <a:ext uri="{FF2B5EF4-FFF2-40B4-BE49-F238E27FC236}">
                <a16:creationId xmlns:a16="http://schemas.microsoft.com/office/drawing/2014/main" id="{5CF79B3B-A20F-8F3A-F534-E9586EA8264E}"/>
              </a:ext>
            </a:extLst>
          </p:cNvPr>
          <p:cNvSpPr>
            <a:spLocks noGrp="1"/>
          </p:cNvSpPr>
          <p:nvPr>
            <p:ph idx="1"/>
          </p:nvPr>
        </p:nvSpPr>
        <p:spPr/>
        <p:txBody>
          <a:bodyPr>
            <a:normAutofit/>
          </a:bodyPr>
          <a:lstStyle/>
          <a:p>
            <a:r>
              <a:rPr lang="en-US" sz="1600" b="1" dirty="0">
                <a:latin typeface="Times New Roman" panose="02020603050405020304" pitchFamily="18" charset="0"/>
              </a:rPr>
              <a:t>Module 2: Classification and Organization</a:t>
            </a:r>
          </a:p>
          <a:p>
            <a:r>
              <a:rPr lang="en-US" sz="1600" b="1" dirty="0">
                <a:latin typeface="Times New Roman" panose="02020603050405020304" pitchFamily="18" charset="0"/>
              </a:rPr>
              <a:t>Objective:</a:t>
            </a:r>
          </a:p>
          <a:p>
            <a:r>
              <a:rPr lang="en-US" sz="1600" dirty="0">
                <a:latin typeface="Times New Roman" panose="02020603050405020304" pitchFamily="18" charset="0"/>
              </a:rPr>
              <a:t>Categorize invoices based on processing success and organize them for streamlined error handling and reference.</a:t>
            </a:r>
          </a:p>
          <a:p>
            <a:r>
              <a:rPr lang="en-US" sz="1600" b="1" dirty="0">
                <a:latin typeface="Times New Roman" panose="02020603050405020304" pitchFamily="18" charset="0"/>
              </a:rPr>
              <a:t>Functionality:</a:t>
            </a:r>
          </a:p>
          <a:p>
            <a:pPr>
              <a:buFont typeface="+mj-lt"/>
              <a:buAutoNum type="arabicPeriod"/>
            </a:pPr>
            <a:r>
              <a:rPr lang="en-US" sz="1600" b="1" dirty="0">
                <a:latin typeface="Times New Roman" panose="02020603050405020304" pitchFamily="18" charset="0"/>
              </a:rPr>
              <a:t>Classification:</a:t>
            </a:r>
            <a:endParaRPr lang="en-US" sz="1600" dirty="0">
              <a:latin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rPr>
              <a:t>Segregates processed invoices into:</a:t>
            </a:r>
          </a:p>
          <a:p>
            <a:pPr marL="1143000" lvl="2" indent="-228600">
              <a:buFont typeface="+mj-lt"/>
              <a:buAutoNum type="arabicPeriod"/>
            </a:pPr>
            <a:r>
              <a:rPr lang="en-US" sz="1600" b="1" dirty="0">
                <a:latin typeface="Times New Roman" panose="02020603050405020304" pitchFamily="18" charset="0"/>
              </a:rPr>
              <a:t>Successfully Scraped:</a:t>
            </a:r>
            <a:r>
              <a:rPr lang="en-US" sz="1500" dirty="0">
                <a:latin typeface="Times New Roman" panose="02020603050405020304" pitchFamily="18" charset="0"/>
              </a:rPr>
              <a:t> Invoices with complete and accurate data extraction.</a:t>
            </a:r>
          </a:p>
          <a:p>
            <a:pPr marL="1143000" lvl="2" indent="-228600">
              <a:buFont typeface="+mj-lt"/>
              <a:buAutoNum type="arabicPeriod"/>
            </a:pPr>
            <a:r>
              <a:rPr lang="en-US" sz="1600" b="1" dirty="0">
                <a:latin typeface="Times New Roman" panose="02020603050405020304" pitchFamily="18" charset="0"/>
              </a:rPr>
              <a:t>Unsuccessfully Scraped:</a:t>
            </a:r>
            <a:r>
              <a:rPr lang="en-US" sz="1600" dirty="0">
                <a:latin typeface="Times New Roman" panose="02020603050405020304" pitchFamily="18" charset="0"/>
              </a:rPr>
              <a:t> </a:t>
            </a:r>
            <a:r>
              <a:rPr lang="en-US" sz="1500" dirty="0">
                <a:latin typeface="Times New Roman" panose="02020603050405020304" pitchFamily="18" charset="0"/>
              </a:rPr>
              <a:t>Invoices with missing or erroneous data.</a:t>
            </a:r>
          </a:p>
          <a:p>
            <a:pPr>
              <a:buFont typeface="+mj-lt"/>
              <a:buAutoNum type="arabicPeriod"/>
            </a:pPr>
            <a:r>
              <a:rPr lang="en-US" sz="1600" b="1" dirty="0">
                <a:latin typeface="Times New Roman" panose="02020603050405020304" pitchFamily="18" charset="0"/>
              </a:rPr>
              <a:t>Folder Organization:</a:t>
            </a:r>
            <a:endParaRPr lang="en-US" sz="1600" dirty="0">
              <a:latin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rPr>
              <a:t>Moves invoices into separate folders for each category:</a:t>
            </a:r>
          </a:p>
          <a:p>
            <a:pPr marL="1143000" lvl="2" indent="-228600">
              <a:buFont typeface="+mj-lt"/>
              <a:buAutoNum type="arabicPeriod"/>
            </a:pPr>
            <a:r>
              <a:rPr lang="en-US" sz="1600" b="1" dirty="0">
                <a:latin typeface="Times New Roman" panose="02020603050405020304" pitchFamily="18" charset="0"/>
              </a:rPr>
              <a:t>Success Folder:</a:t>
            </a:r>
            <a:r>
              <a:rPr lang="en-US" sz="1600" dirty="0">
                <a:latin typeface="Times New Roman" panose="02020603050405020304" pitchFamily="18" charset="0"/>
              </a:rPr>
              <a:t> Contains correctly processed invoices.</a:t>
            </a:r>
          </a:p>
          <a:p>
            <a:pPr marL="1143000" lvl="2" indent="-228600">
              <a:buFont typeface="+mj-lt"/>
              <a:buAutoNum type="arabicPeriod"/>
            </a:pPr>
            <a:r>
              <a:rPr lang="en-US" sz="1600" b="1" dirty="0">
                <a:latin typeface="Times New Roman" panose="02020603050405020304" pitchFamily="18" charset="0"/>
              </a:rPr>
              <a:t>Error Folder:</a:t>
            </a:r>
            <a:r>
              <a:rPr lang="en-US" sz="1600" dirty="0">
                <a:latin typeface="Times New Roman" panose="02020603050405020304" pitchFamily="18" charset="0"/>
              </a:rPr>
              <a:t> Contains invoices needing manual review.</a:t>
            </a:r>
          </a:p>
          <a:p>
            <a:pPr>
              <a:buFont typeface="+mj-lt"/>
              <a:buAutoNum type="arabicPeriod"/>
            </a:pPr>
            <a:r>
              <a:rPr lang="en-US" sz="1600" b="1" dirty="0">
                <a:latin typeface="Times New Roman" panose="02020603050405020304" pitchFamily="18" charset="0"/>
              </a:rPr>
              <a:t>Error Handling and Reporting:</a:t>
            </a:r>
            <a:endParaRPr lang="en-US" sz="1600" dirty="0">
              <a:latin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rPr>
              <a:t>Generates a report summarizing errors for troubleshooting.</a:t>
            </a:r>
          </a:p>
          <a:p>
            <a:pPr marL="742950" lvl="1" indent="-285750">
              <a:buFont typeface="+mj-lt"/>
              <a:buAutoNum type="arabicPeriod"/>
            </a:pPr>
            <a:r>
              <a:rPr lang="en-US" sz="1600" dirty="0">
                <a:latin typeface="Times New Roman" panose="02020603050405020304" pitchFamily="18" charset="0"/>
              </a:rPr>
              <a:t>Provides logs of failed extractions for root cause analysis.</a:t>
            </a:r>
          </a:p>
          <a:p>
            <a:endParaRPr lang="en-IN" dirty="0"/>
          </a:p>
        </p:txBody>
      </p:sp>
    </p:spTree>
    <p:extLst>
      <p:ext uri="{BB962C8B-B14F-4D97-AF65-F5344CB8AC3E}">
        <p14:creationId xmlns:p14="http://schemas.microsoft.com/office/powerpoint/2010/main" val="180020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551E0-D4A8-C657-ED60-226271A4EE0B}"/>
              </a:ext>
            </a:extLst>
          </p:cNvPr>
          <p:cNvSpPr>
            <a:spLocks noGrp="1"/>
          </p:cNvSpPr>
          <p:nvPr>
            <p:ph type="title"/>
          </p:nvPr>
        </p:nvSpPr>
        <p:spPr/>
        <p:txBody>
          <a:bodyPr/>
          <a:lstStyle/>
          <a:p>
            <a:r>
              <a:rPr lang="en-US" dirty="0"/>
              <a:t>Functional Description</a:t>
            </a:r>
            <a:endParaRPr lang="en-IN" dirty="0"/>
          </a:p>
        </p:txBody>
      </p:sp>
      <p:pic>
        <p:nvPicPr>
          <p:cNvPr id="5122" name="Picture 2" descr="Invoice Classification and Organization">
            <a:extLst>
              <a:ext uri="{FF2B5EF4-FFF2-40B4-BE49-F238E27FC236}">
                <a16:creationId xmlns:a16="http://schemas.microsoft.com/office/drawing/2014/main" id="{436203F4-BED0-B731-D4E8-BE6D23C3DB9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100258" y="990600"/>
            <a:ext cx="2943483" cy="5334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299FCB4-EA74-0625-1691-722A6A02040A}"/>
              </a:ext>
            </a:extLst>
          </p:cNvPr>
          <p:cNvSpPr txBox="1"/>
          <p:nvPr/>
        </p:nvSpPr>
        <p:spPr>
          <a:xfrm>
            <a:off x="190500" y="1160748"/>
            <a:ext cx="2689312" cy="369332"/>
          </a:xfrm>
          <a:prstGeom prst="rect">
            <a:avLst/>
          </a:prstGeom>
          <a:noFill/>
        </p:spPr>
        <p:txBody>
          <a:bodyPr wrap="square" rtlCol="0">
            <a:spAutoFit/>
          </a:bodyPr>
          <a:lstStyle/>
          <a:p>
            <a:r>
              <a:rPr lang="en-US" b="1" dirty="0"/>
              <a:t>Activity Diagram</a:t>
            </a:r>
            <a:endParaRPr lang="en-IN" b="1" dirty="0"/>
          </a:p>
        </p:txBody>
      </p:sp>
    </p:spTree>
    <p:extLst>
      <p:ext uri="{BB962C8B-B14F-4D97-AF65-F5344CB8AC3E}">
        <p14:creationId xmlns:p14="http://schemas.microsoft.com/office/powerpoint/2010/main" val="933405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4" name="Rectangle 1">
            <a:extLst>
              <a:ext uri="{FF2B5EF4-FFF2-40B4-BE49-F238E27FC236}">
                <a16:creationId xmlns:a16="http://schemas.microsoft.com/office/drawing/2014/main" id="{358572F9-85B9-19D1-5B8D-0E97D27FA88D}"/>
              </a:ext>
            </a:extLst>
          </p:cNvPr>
          <p:cNvSpPr>
            <a:spLocks noGrp="1" noChangeArrowheads="1"/>
          </p:cNvSpPr>
          <p:nvPr>
            <p:ph idx="1"/>
          </p:nvPr>
        </p:nvSpPr>
        <p:spPr bwMode="auto">
          <a:xfrm>
            <a:off x="190500" y="1120676"/>
            <a:ext cx="895350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rPr>
              <a:t>Input Setup</a:t>
            </a:r>
            <a:r>
              <a:rPr kumimoji="0" lang="en-US" altLang="en-US" sz="1600" b="0" i="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rPr>
              <a:t> Invoices are stored in a folder (e.g., </a:t>
            </a:r>
            <a:r>
              <a:rPr kumimoji="0" lang="en-US" altLang="en-US" sz="1500" b="0" i="0" u="none" strike="noStrike" cap="none" normalizeH="0" baseline="0" dirty="0" err="1">
                <a:ln>
                  <a:noFill/>
                </a:ln>
                <a:solidFill>
                  <a:schemeClr val="tx1"/>
                </a:solidFill>
                <a:effectLst/>
                <a:latin typeface="Times New Roman" panose="02020603050405020304" pitchFamily="18" charset="0"/>
              </a:rPr>
              <a:t>InputInvoices</a:t>
            </a:r>
            <a:r>
              <a:rPr kumimoji="0" lang="en-US" altLang="en-US" sz="1500" b="0" i="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rPr>
              <a:t>File Processing</a:t>
            </a:r>
            <a:r>
              <a:rPr kumimoji="0" lang="en-US" altLang="en-US" sz="1600" b="0" i="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i="0" u="none" strike="noStrike" cap="none" normalizeH="0" baseline="0" dirty="0">
                <a:ln>
                  <a:noFill/>
                </a:ln>
                <a:solidFill>
                  <a:schemeClr val="tx1"/>
                </a:solidFill>
                <a:effectLst/>
                <a:latin typeface="Times New Roman" panose="02020603050405020304" pitchFamily="18" charset="0"/>
              </a:rPr>
              <a:t> Loop</a:t>
            </a:r>
            <a:r>
              <a:rPr kumimoji="0" lang="en-US" altLang="en-US" sz="1500" b="0" i="0" u="none" strike="noStrike" cap="none" normalizeH="0" baseline="0" dirty="0">
                <a:ln>
                  <a:noFill/>
                </a:ln>
                <a:solidFill>
                  <a:schemeClr val="tx1"/>
                </a:solidFill>
                <a:effectLst/>
                <a:latin typeface="Times New Roman" panose="02020603050405020304" pitchFamily="18" charset="0"/>
              </a:rPr>
              <a:t> through each invoice.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rPr>
              <a:t> Use </a:t>
            </a:r>
            <a:r>
              <a:rPr kumimoji="0" lang="en-US" altLang="en-US" sz="1500" b="1" i="0" u="none" strike="noStrike" cap="none" normalizeH="0" baseline="0" dirty="0">
                <a:ln>
                  <a:noFill/>
                </a:ln>
                <a:solidFill>
                  <a:schemeClr val="tx1"/>
                </a:solidFill>
                <a:effectLst/>
                <a:latin typeface="Times New Roman" panose="02020603050405020304" pitchFamily="18" charset="0"/>
              </a:rPr>
              <a:t>OCR/PDF Extraction</a:t>
            </a:r>
            <a:r>
              <a:rPr kumimoji="0" lang="en-US" altLang="en-US" sz="1500" b="0" i="0" u="none" strike="noStrike" cap="none" normalizeH="0" baseline="0" dirty="0">
                <a:ln>
                  <a:noFill/>
                </a:ln>
                <a:solidFill>
                  <a:schemeClr val="tx1"/>
                </a:solidFill>
                <a:effectLst/>
                <a:latin typeface="Times New Roman" panose="02020603050405020304" pitchFamily="18" charset="0"/>
              </a:rPr>
              <a:t> to capture key fields (Company Name, Invoice Number, Date, Customer ID, Payment Terms, Total Amount).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rPr>
              <a:t>Data Validation</a:t>
            </a:r>
            <a:r>
              <a:rPr kumimoji="0" lang="en-US" altLang="en-US" sz="1600" b="0" i="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rPr>
              <a:t> Validate</a:t>
            </a:r>
            <a:r>
              <a:rPr kumimoji="0" lang="en-US" altLang="en-US" sz="1500" b="0" i="0" u="none" strike="noStrike" cap="none" normalizeH="0" baseline="0" dirty="0">
                <a:ln>
                  <a:noFill/>
                </a:ln>
                <a:solidFill>
                  <a:schemeClr val="tx1"/>
                </a:solidFill>
                <a:effectLst/>
                <a:latin typeface="Times New Roman" panose="02020603050405020304" pitchFamily="18" charset="0"/>
              </a:rPr>
              <a:t> extracted fields (check for missing or incorrect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rPr>
              <a:t>Classify invoices into:</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rPr>
              <a:t> Success Folder</a:t>
            </a:r>
            <a:r>
              <a:rPr kumimoji="0" lang="en-US" altLang="en-US" sz="1500" b="0" i="0" u="none" strike="noStrike" cap="none" normalizeH="0" baseline="0" dirty="0">
                <a:ln>
                  <a:noFill/>
                </a:ln>
                <a:solidFill>
                  <a:schemeClr val="tx1"/>
                </a:solidFill>
                <a:effectLst/>
                <a:latin typeface="Times New Roman" panose="02020603050405020304" pitchFamily="18" charset="0"/>
              </a:rPr>
              <a:t>: If all fields are correctly extracted.</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Times New Roman" panose="02020603050405020304" pitchFamily="18" charset="0"/>
              </a:rPr>
              <a:t> Failure Folder</a:t>
            </a:r>
            <a:r>
              <a:rPr kumimoji="0" lang="en-US" altLang="en-US" sz="1500" b="0" i="0" u="none" strike="noStrike" cap="none" normalizeH="0" baseline="0" dirty="0">
                <a:ln>
                  <a:noFill/>
                </a:ln>
                <a:solidFill>
                  <a:schemeClr val="tx1"/>
                </a:solidFill>
                <a:effectLst/>
                <a:latin typeface="Times New Roman" panose="02020603050405020304" pitchFamily="18" charset="0"/>
              </a:rPr>
              <a:t>: If data is incomplete or incorrect.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rPr>
              <a:t>Data Storage</a:t>
            </a:r>
            <a:r>
              <a:rPr kumimoji="0" lang="en-US" altLang="en-US" sz="1600" b="0" i="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rPr>
              <a:t> Store extracted data in </a:t>
            </a:r>
            <a:r>
              <a:rPr kumimoji="0" lang="en-US" altLang="en-US" sz="1500" b="1" i="0" u="none" strike="noStrike" cap="none" normalizeH="0" baseline="0" dirty="0">
                <a:ln>
                  <a:noFill/>
                </a:ln>
                <a:solidFill>
                  <a:schemeClr val="tx1"/>
                </a:solidFill>
                <a:effectLst/>
                <a:latin typeface="Times New Roman" panose="02020603050405020304" pitchFamily="18" charset="0"/>
              </a:rPr>
              <a:t>Excel</a:t>
            </a:r>
            <a:r>
              <a:rPr kumimoji="0" lang="en-US" altLang="en-US" sz="1500" b="0" i="0" u="none" strike="noStrike" cap="none" normalizeH="0" baseline="0" dirty="0">
                <a:ln>
                  <a:noFill/>
                </a:ln>
                <a:solidFill>
                  <a:schemeClr val="tx1"/>
                </a:solidFill>
                <a:effectLst/>
                <a:latin typeface="Times New Roman" panose="02020603050405020304" pitchFamily="18" charset="0"/>
              </a:rPr>
              <a:t> file (invoices_data.xlsx).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rPr>
              <a:t>Error Handling &amp; Reporting</a:t>
            </a:r>
            <a:r>
              <a:rPr kumimoji="0" lang="en-US" altLang="en-US" sz="1600" b="0" i="0" u="none" strike="noStrike" cap="none" normalizeH="0" baseline="0" dirty="0">
                <a:ln>
                  <a:noFill/>
                </a:ln>
                <a:solidFill>
                  <a:schemeClr val="tx1"/>
                </a:solidFill>
                <a:effectLst/>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rPr>
              <a:t> Log failed extractions and move them to a separate folder.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a:ln>
                  <a:noFill/>
                </a:ln>
                <a:solidFill>
                  <a:schemeClr val="tx1"/>
                </a:solidFill>
                <a:effectLst/>
                <a:latin typeface="Times New Roman" panose="02020603050405020304" pitchFamily="18" charset="0"/>
              </a:rPr>
              <a:t>Generate Summary Report</a:t>
            </a:r>
            <a:r>
              <a:rPr kumimoji="0" lang="en-US" altLang="en-US" sz="1500" b="0" i="0" u="none" strike="noStrike" cap="none" normalizeH="0" baseline="0" dirty="0">
                <a:ln>
                  <a:noFill/>
                </a:ln>
                <a:solidFill>
                  <a:schemeClr val="tx1"/>
                </a:solidFill>
                <a:effectLst/>
                <a:latin typeface="Times New Roman" panose="02020603050405020304" pitchFamily="18" charset="0"/>
              </a:rPr>
              <a:t> of processed invoices.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rPr>
              <a:t>Completion</a:t>
            </a:r>
            <a:r>
              <a:rPr kumimoji="0" lang="en-US" altLang="en-US" sz="1600" b="0" i="0" u="none" strike="noStrike" cap="none" normalizeH="0" baseline="0" dirty="0">
                <a:ln>
                  <a:noFill/>
                </a:ln>
                <a:solidFill>
                  <a:schemeClr val="tx1"/>
                </a:solidFill>
                <a:effectLst/>
                <a:latin typeface="Times New Roman" panose="02020603050405020304" pitchFamily="18" charset="0"/>
              </a:rPr>
              <a:t>:</a:t>
            </a:r>
            <a:endParaRPr kumimoji="0" lang="en-US" altLang="en-US" sz="1500"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rPr>
              <a:t>Archive processed invoices and send notifications (optional).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00" y="107052"/>
            <a:ext cx="8763000" cy="808037"/>
          </a:xfrm>
        </p:spPr>
        <p:txBody>
          <a:bodyPr>
            <a:normAutofit/>
          </a:bodyPr>
          <a:lstStyle/>
          <a:p>
            <a:r>
              <a:rPr lang="en-US" dirty="0"/>
              <a:t>Implementation</a:t>
            </a:r>
            <a:endParaRPr lang="en-IN" dirty="0">
              <a:latin typeface="+mj-lt"/>
            </a:endParaRPr>
          </a:p>
        </p:txBody>
      </p:sp>
      <p:sp>
        <p:nvSpPr>
          <p:cNvPr id="14" name="Rectangle 9">
            <a:extLst>
              <a:ext uri="{FF2B5EF4-FFF2-40B4-BE49-F238E27FC236}">
                <a16:creationId xmlns:a16="http://schemas.microsoft.com/office/drawing/2014/main" id="{A95DAA68-B155-C5FE-6C10-6AF9D6058569}"/>
              </a:ext>
            </a:extLst>
          </p:cNvPr>
          <p:cNvSpPr>
            <a:spLocks noChangeArrowheads="1"/>
          </p:cNvSpPr>
          <p:nvPr/>
        </p:nvSpPr>
        <p:spPr bwMode="auto">
          <a:xfrm>
            <a:off x="190500" y="1190364"/>
            <a:ext cx="88820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this project using the UiPath Automation Platform, the workflow begins by setting up the environment, including folders for input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InputInvoices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categorized outputs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ProcessedInvoices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 and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ProcessedInvoices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/Failure). An Excel file (invoices_data.xlsx) is prepared to store the extracted details such as Company Name, Invoice Number, Date, Customer ID, Payment Terms, and Total Amount. The UiPath workflow starts by reading all invoice files from the input folder using the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Directory.GetFiles</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data extraction, the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Document Understanding Framework</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utilized, leveraging OCR engines like UiPath’s </a:t>
            </a:r>
            <a:r>
              <a:rPr kumimoji="0" lang="en-US" altLang="en-US" sz="1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OmniPage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OCR or Tesseract OCR for scanned invoices. A pre-configured taxonomy is used to identify key fields, and a Machine Learning Extractor is trained to handle diverse invoice formats effectively. To improve accuracy, fallback methods such as Regex-based extraction are also implemented for consistent invoice layouts. Extracted data is validated through UiPath's Validation Station (if manual review is needed) before being appended to the Excel file using the Write Range activity.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Finally, the workflow classifies each processed invoice. Successfully scraped invoices are moved to the Success folder, while invoices with errors or missing data are placed in the Failure folder for further review. This system completes the extraction and organization of 1000 invoices within 130 minutes, ensuring high accuracy and significantly reducing manual effort. The project highlights the efficiency of UiPath's RPA tools in automating repetitive and labor-intensive tasks.</a:t>
            </a:r>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pPr marL="0" indent="0">
              <a:buNone/>
            </a:pPr>
            <a:r>
              <a:rPr lang="en-US" sz="1600" b="1" dirty="0"/>
              <a:t>Screen shots</a:t>
            </a:r>
          </a:p>
          <a:p>
            <a:endParaRPr lang="en-US" dirty="0"/>
          </a:p>
        </p:txBody>
      </p:sp>
      <p:pic>
        <p:nvPicPr>
          <p:cNvPr id="5" name="Picture 4">
            <a:extLst>
              <a:ext uri="{FF2B5EF4-FFF2-40B4-BE49-F238E27FC236}">
                <a16:creationId xmlns:a16="http://schemas.microsoft.com/office/drawing/2014/main" id="{D367838F-CE7B-D6CD-8177-E3DAF9C808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573" y="1736812"/>
            <a:ext cx="3240360" cy="4716524"/>
          </a:xfrm>
          <a:prstGeom prst="rect">
            <a:avLst/>
          </a:prstGeom>
        </p:spPr>
      </p:pic>
      <p:pic>
        <p:nvPicPr>
          <p:cNvPr id="7" name="Picture 6">
            <a:extLst>
              <a:ext uri="{FF2B5EF4-FFF2-40B4-BE49-F238E27FC236}">
                <a16:creationId xmlns:a16="http://schemas.microsoft.com/office/drawing/2014/main" id="{071EBB0F-D1A1-F2BF-B595-C1E4F6D637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4067" y="1759750"/>
            <a:ext cx="3240360" cy="4716524"/>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618F9-2967-8964-2565-3406DD10C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010E9-84A1-94D0-6950-9475D5017764}"/>
              </a:ext>
            </a:extLst>
          </p:cNvPr>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a:extLst>
              <a:ext uri="{FF2B5EF4-FFF2-40B4-BE49-F238E27FC236}">
                <a16:creationId xmlns:a16="http://schemas.microsoft.com/office/drawing/2014/main" id="{F44D7AE1-04D0-E8A7-4136-1D7660F3C24C}"/>
              </a:ext>
            </a:extLst>
          </p:cNvPr>
          <p:cNvSpPr>
            <a:spLocks noGrp="1"/>
          </p:cNvSpPr>
          <p:nvPr>
            <p:ph idx="1"/>
          </p:nvPr>
        </p:nvSpPr>
        <p:spPr/>
        <p:txBody>
          <a:bodyPr/>
          <a:lstStyle/>
          <a:p>
            <a:pPr marL="0" indent="0">
              <a:buNone/>
            </a:pPr>
            <a:r>
              <a:rPr lang="en-US" sz="1600" b="1" dirty="0"/>
              <a:t>Screen shots</a:t>
            </a:r>
          </a:p>
          <a:p>
            <a:endParaRPr lang="en-US" dirty="0"/>
          </a:p>
        </p:txBody>
      </p:sp>
      <p:pic>
        <p:nvPicPr>
          <p:cNvPr id="5" name="Picture 4">
            <a:extLst>
              <a:ext uri="{FF2B5EF4-FFF2-40B4-BE49-F238E27FC236}">
                <a16:creationId xmlns:a16="http://schemas.microsoft.com/office/drawing/2014/main" id="{D690CEDA-13F5-3CAF-8E88-4379DE5BD9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9590" y="1425352"/>
            <a:ext cx="2824820" cy="4464496"/>
          </a:xfrm>
          <a:prstGeom prst="rect">
            <a:avLst/>
          </a:prstGeom>
        </p:spPr>
      </p:pic>
    </p:spTree>
    <p:custDataLst>
      <p:tags r:id="rId1"/>
    </p:custDataLst>
    <p:extLst>
      <p:ext uri="{BB962C8B-B14F-4D97-AF65-F5344CB8AC3E}">
        <p14:creationId xmlns:p14="http://schemas.microsoft.com/office/powerpoint/2010/main" val="2751643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normAutofit fontScale="85000" lnSpcReduction="20000"/>
          </a:bodyPr>
          <a:lstStyle/>
          <a:p>
            <a:pPr marL="600075" marR="467995" algn="just">
              <a:lnSpc>
                <a:spcPct val="150000"/>
              </a:lnSpc>
            </a:pPr>
            <a:r>
              <a:rPr lang="en-IN" sz="1800" dirty="0">
                <a:effectLst/>
                <a:latin typeface="Times New Roman" panose="02020603050405020304" pitchFamily="18" charset="0"/>
                <a:ea typeface="Times New Roman" panose="02020603050405020304" pitchFamily="18" charset="0"/>
              </a:rPr>
              <a:t>In conclusion, this project successfully demonstrates the significant benefits of leveraging Robotic Process Automation (RPA) through the UiPath platform to enhance the efficiency and accuracy of invoice data extraction. The automation process not only reduces the time required to process a large batch of invoices from several days to just 130 minutes, but it also ensures near-perfect accuracy by minimizing the risk of human error. By storing the extracted data in an Excel file and categorizing invoices into “successfully scraped” and “unsuccessfully scraped” folders, the solution offers seamless data organization and easy identification of errors for prompt resolution.</a:t>
            </a:r>
          </a:p>
          <a:p>
            <a:pPr marL="600075" marR="467995" algn="just">
              <a:lnSpc>
                <a:spcPct val="150000"/>
              </a:lnSpc>
            </a:pPr>
            <a:r>
              <a:rPr lang="en-IN" sz="1800" dirty="0">
                <a:effectLst/>
                <a:latin typeface="Times New Roman" panose="02020603050405020304" pitchFamily="18" charset="0"/>
                <a:ea typeface="Times New Roman" panose="02020603050405020304" pitchFamily="18" charset="0"/>
              </a:rPr>
              <a:t>This project highlights the potential of RPA to transform traditional, </a:t>
            </a:r>
            <a:r>
              <a:rPr lang="en-IN" sz="1800" dirty="0" err="1">
                <a:effectLst/>
                <a:latin typeface="Times New Roman" panose="02020603050405020304" pitchFamily="18" charset="0"/>
                <a:ea typeface="Times New Roman" panose="02020603050405020304" pitchFamily="18" charset="0"/>
              </a:rPr>
              <a:t>labor-intensive</a:t>
            </a:r>
            <a:r>
              <a:rPr lang="en-IN" sz="1800" dirty="0">
                <a:effectLst/>
                <a:latin typeface="Times New Roman" panose="02020603050405020304" pitchFamily="18" charset="0"/>
                <a:ea typeface="Times New Roman" panose="02020603050405020304" pitchFamily="18" charset="0"/>
              </a:rPr>
              <a:t> processes, allowing businesses to significantly reduce operational costs while improving productivity. It ensures scalability, enabling businesses to handle increasing volumes of invoices with ease. Furthermore, the automated workflow frees up valuable human resources, allowing employees to focus on more strategic tasks. Overall, the solution not only optimizes invoice management but also demonstrates how RPA can be applied to other data-intensive processes, driving efficiency, reducing costs, and enabling businesses to scale their operations effectively. This project sets the foundation for more advanced automation applications in diverse business sectors, making it an essential step toward digital transformation.</a:t>
            </a:r>
          </a:p>
          <a:p>
            <a:pPr marL="600075" marR="467995" algn="just">
              <a:lnSpc>
                <a:spcPct val="150000"/>
              </a:lnSpc>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US" dirty="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a:xfrm>
            <a:off x="107504" y="1016732"/>
            <a:ext cx="8763000" cy="5334000"/>
          </a:xfrm>
        </p:spPr>
        <p:txBody>
          <a:bodyPr>
            <a:normAutofit fontScale="25000" lnSpcReduction="20000"/>
          </a:bodyPr>
          <a:lstStyle/>
          <a:p>
            <a:r>
              <a:rPr lang="en-US" sz="6000" dirty="0"/>
              <a:t>Future implementations of this project could enhance its capabilities by integrating additional features and technologies to improve scalability, accuracy, and flexibility. Below are potential enhancements and expansions:</a:t>
            </a:r>
          </a:p>
          <a:p>
            <a:r>
              <a:rPr lang="en-US" sz="6000" b="1" dirty="0"/>
              <a:t>1. Integration with OCR and Machine Learning Models</a:t>
            </a:r>
          </a:p>
          <a:p>
            <a:pPr marL="0" indent="0">
              <a:buNone/>
            </a:pPr>
            <a:r>
              <a:rPr lang="en-US" sz="6000" b="1" dirty="0"/>
              <a:t>	Advanced OCR Engines</a:t>
            </a:r>
            <a:r>
              <a:rPr lang="en-US" sz="6000" dirty="0"/>
              <a:t>: While the current system uses OCR for text extraction, future iterations could integrate more advanced OCR solutions, like Google Vision or Tesseract with custom training, to improve accuracy, particularly for poorly scanned or distorted invoices.</a:t>
            </a:r>
          </a:p>
          <a:p>
            <a:pPr marL="0" indent="0">
              <a:buNone/>
            </a:pPr>
            <a:r>
              <a:rPr lang="en-US" sz="6000" b="1" dirty="0"/>
              <a:t>	Machine Learning (ML) Model Training</a:t>
            </a:r>
            <a:r>
              <a:rPr lang="en-US" sz="6000" dirty="0"/>
              <a:t>: Instead of relying on predefined taxonomies, future versions could leverage machine learning models to recognize and extract invoice data more intelligently. These models could be trained on diverse invoice formats, adapting to various vendors and layouts, which would improve extraction accuracy and reduce manual intervention.</a:t>
            </a:r>
          </a:p>
          <a:p>
            <a:r>
              <a:rPr lang="en-US" sz="6000" b="1" dirty="0"/>
              <a:t>2. Integration with Enterprise Systems</a:t>
            </a:r>
          </a:p>
          <a:p>
            <a:pPr marL="0" indent="0">
              <a:buNone/>
            </a:pPr>
            <a:r>
              <a:rPr lang="en-US" sz="6000" b="1" dirty="0"/>
              <a:t>	ERP and CRM Integration</a:t>
            </a:r>
            <a:r>
              <a:rPr lang="en-US" sz="6000" dirty="0"/>
              <a:t>: The automation solution could be expanded to integrate with enterprise resource planning (ERP) systems, such as SAP or Oracle, and customer relationship management (CRM) systems like Salesforce. This would allow invoices to be automatically linked to customer records, payment histories, and financial transactions.</a:t>
            </a:r>
          </a:p>
          <a:p>
            <a:pPr marL="0" indent="0">
              <a:buNone/>
            </a:pPr>
            <a:r>
              <a:rPr lang="en-US" sz="6000" b="1" dirty="0"/>
              <a:t>	Cloud Storage and Management</a:t>
            </a:r>
            <a:r>
              <a:rPr lang="en-US" sz="6000" dirty="0"/>
              <a:t>: To scale and ensure better document storage and accessibility, invoices could be uploaded to cloud platforms like AWS S3, Azure Blob Storage, or Google Cloud Storage. Additionally, cloud-based databases could be used to store and query invoice data.</a:t>
            </a:r>
          </a:p>
          <a:p>
            <a:r>
              <a:rPr lang="en-US" sz="6000" b="1" dirty="0"/>
              <a:t>3. Real-time Error Handling and Notifications</a:t>
            </a:r>
          </a:p>
          <a:p>
            <a:pPr marL="0" indent="0">
              <a:buNone/>
            </a:pPr>
            <a:r>
              <a:rPr lang="en-US" sz="6000" b="1" dirty="0"/>
              <a:t>	Error Handling Workflow</a:t>
            </a:r>
            <a:r>
              <a:rPr lang="en-US" sz="6000" dirty="0"/>
              <a:t>: Future versions of the automation could introduce real-time error handling and automated notification systems. For instance, if an invoice fails to scrape, the bot could trigger a workflow to notify administrators or send an email with detailed error logs, enabling quick resolutions.</a:t>
            </a:r>
          </a:p>
          <a:p>
            <a:pPr marL="0" indent="0">
              <a:buNone/>
            </a:pPr>
            <a:r>
              <a:rPr lang="en-US" sz="6000" b="1" dirty="0"/>
              <a:t>	</a:t>
            </a:r>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lstStyle/>
          <a:p>
            <a:r>
              <a:rPr lang="en-US" dirty="0"/>
              <a:t>Title</a:t>
            </a:r>
          </a:p>
          <a:p>
            <a:r>
              <a:rPr lang="en-US" dirty="0"/>
              <a:t>Authors</a:t>
            </a: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a:xfrm>
            <a:off x="202911" y="1628800"/>
            <a:ext cx="8763000" cy="5334000"/>
          </a:xfrm>
        </p:spPr>
        <p:txBody>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UiPath, "UiPath Studio - Official Documentation," Available at: https://docs.uipath.com.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Accessed: November 2024.</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S. Avasarala and M. Gopalan, "Robotic Process Automation: A Survey," International Journal of Advanced Research in Computer Science and Software Engineering, vol. 7, no. 5, pp. 43-51, 2017.</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S. J. Roy, "Automating Business Processes Using UiPath," International Journal of Computer Applications, vol. 179, no. 10, pp. 30-36, 2019.</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500" b="0" i="0" u="none" strike="noStrike" cap="none" normalizeH="0" baseline="0" dirty="0">
              <a:ln>
                <a:noFill/>
              </a:ln>
              <a:solidFill>
                <a:schemeClr val="tx1"/>
              </a:solidFill>
              <a:effectLst/>
              <a:latin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500" b="0" i="0" u="none" strike="noStrike" cap="none" normalizeH="0" baseline="0" dirty="0">
                <a:ln>
                  <a:noFill/>
                </a:ln>
                <a:solidFill>
                  <a:schemeClr val="tx1"/>
                </a:solidFill>
                <a:effectLst/>
                <a:latin typeface="Times New Roman" panose="02020603050405020304" pitchFamily="18" charset="0"/>
              </a:rPr>
              <a:t>Microsoft, "Excel - Official Documentation," Available at: https://support.microsoft.com/en-us/excel.</a:t>
            </a:r>
          </a:p>
          <a:p>
            <a:pPr marL="0" indent="0">
              <a:buNone/>
            </a:pPr>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9551</TotalTime>
  <Words>2289</Words>
  <Application>Microsoft Office PowerPoint</Application>
  <PresentationFormat>On-screen Show (4:3)</PresentationFormat>
  <Paragraphs>184</Paragraphs>
  <Slides>22</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Bahnschrift</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Main Objective</vt:lpstr>
      <vt:lpstr>Architecture</vt:lpstr>
      <vt:lpstr>System Requirements</vt:lpstr>
      <vt:lpstr>Functional Description</vt:lpstr>
      <vt:lpstr>Functional Description</vt:lpstr>
      <vt:lpstr>Functional Description</vt:lpstr>
      <vt:lpstr>Functional Description</vt:lpstr>
      <vt:lpstr>Process Design</vt:lpstr>
      <vt:lpstr>Implementation</vt:lpstr>
      <vt:lpstr>Testing</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Prannov Shabari</cp:lastModifiedBy>
  <cp:revision>1751</cp:revision>
  <dcterms:created xsi:type="dcterms:W3CDTF">2013-05-17T03:00:03Z</dcterms:created>
  <dcterms:modified xsi:type="dcterms:W3CDTF">2024-11-22T05:21:16Z</dcterms:modified>
</cp:coreProperties>
</file>